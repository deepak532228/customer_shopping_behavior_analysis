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2DE5E-EDCF-4EE6-B9ED-B4F81E37F17E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918954-881A-4C3B-ADD9-9520FABE1E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677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775AD-8352-FA2B-5419-430EC36575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F72A36-6BC9-5280-6C62-657F13924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DC490-EDE5-CE57-7B8A-5537B78FE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C342C-0789-47D1-9EAE-AD288D6D86EB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080DB-C1FC-2C84-548E-44E2C89EE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32430-BC51-8061-91B1-5E4C3FB2E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F2D64-264B-4250-8225-AAFC5670F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437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01AC1-B359-873D-3037-D270BF950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2F747-BB2A-CB90-004C-3D1CD863A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BD498-4077-CB64-5306-E176EE9A8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C342C-0789-47D1-9EAE-AD288D6D86EB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574F0-BF0D-DF3C-7C57-BE925C211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95512-36A8-3DCB-26F3-C95643F73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F2D64-264B-4250-8225-AAFC5670F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126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10F64-98EB-F18C-64F1-6C6E06083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D7280-AA97-2F70-087D-609E29520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A7D7C-6B08-1EE4-E041-751DF2292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C342C-0789-47D1-9EAE-AD288D6D86EB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F3CBB-7D0D-F826-599A-BCA64A88C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821D2-B9F4-F5AE-1550-8C0C2BD5E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F2D64-264B-4250-8225-AAFC5670F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491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73878-88E0-B386-ABAC-A19EFBD53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83E8B-4423-957A-4FCD-700D0CD445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60D610-8B2E-0B76-A0C1-2DB00C8872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764D7-4573-D73C-F821-899E51AC5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C342C-0789-47D1-9EAE-AD288D6D86EB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EAB23-DFC4-0E7C-F643-2BF4632CC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DCC6C-9449-BDA8-57A3-E4F6B2B4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F2D64-264B-4250-8225-AAFC5670F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226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221F9-5CA9-1F8D-5FA0-DFC3070B2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00FA79-72D6-C3A5-772F-1D3AAC97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7F7433-9439-1ED7-9332-69AA92D907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2D3BB4-08A9-B109-3218-5DE363BD8F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F20645-D095-F84A-7270-C168B581DA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543914-69A3-CE5B-7E82-6C90E5EFB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C342C-0789-47D1-9EAE-AD288D6D86EB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213DF0-289E-4CB4-EA5E-83A0CAC67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737478-DCFC-D0FC-B25C-09D7EDC6F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F2D64-264B-4250-8225-AAFC5670F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189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5D540-3A0C-C700-1E0B-1B8490A78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2B212F-DB2D-F293-3B20-B271E1471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C342C-0789-47D1-9EAE-AD288D6D86EB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4FC9A9-7D84-D3DA-4EAA-01F6A42E1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8498BB-4FA1-31C7-A708-F6B3D3D98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F2D64-264B-4250-8225-AAFC5670F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997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C3D42B-67E3-8863-4715-AEF72D08E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C342C-0789-47D1-9EAE-AD288D6D86EB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16771-BB96-7065-D4FA-00E924C7E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85B1E-18B0-26C6-F2ED-137CEABC8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F2D64-264B-4250-8225-AAFC5670F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992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10626-A1A5-8433-9EC0-105FD81E2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A57FB-D0E3-E069-1D52-75ABB532B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7F911B-E23E-497F-2A67-7C510DC332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F220D-F590-C6E1-C797-1323EB53C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C342C-0789-47D1-9EAE-AD288D6D86EB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0CA594-3609-EB7A-497E-FB0BCF701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ABCE6-CE12-E938-F0FE-4917966EE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F2D64-264B-4250-8225-AAFC5670F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484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80BE6-FE4A-47E7-4F8D-6E00D97BA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7F8FAC-0A82-4FD0-6C54-FAEC66D5C0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75C217-2CFA-5FAA-E245-E6F0E9CDA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3E17A-2979-FE9E-3DE7-7333D554A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C342C-0789-47D1-9EAE-AD288D6D86EB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030B8E-924D-0EF9-B432-913A99B73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E3BD34-CF78-1DCF-4EE8-7AD2F22F9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F2D64-264B-4250-8225-AAFC5670F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537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41A93-6D02-73E7-468D-B4AD4E68E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FE7EAA-C9F5-0A4A-FA93-F9B0CB3E6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19E33-2E11-5414-0DEF-89DA40562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C342C-0789-47D1-9EAE-AD288D6D86EB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C79D5-AD94-EAAD-7511-498EE12CB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1072D-F3EF-DF7B-4509-158D0394E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F2D64-264B-4250-8225-AAFC5670F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773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04332F-286A-F841-2EB6-995C10333C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5A4E4C-FC3B-9E91-4F46-F6FC9FB9F7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F8AEF-6A93-5EF0-D693-5022691BB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C342C-0789-47D1-9EAE-AD288D6D86EB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BAB78-0016-A564-1F1A-B41A3A9BF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72CFC-AA1C-3A58-EE6E-E72BB949D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F2D64-264B-4250-8225-AAFC5670F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104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34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154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474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1019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896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5480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1658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188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5326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9175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283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E4B33E-7862-ECC6-1D8D-7C84E76AC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23AD6-F7DE-1442-747E-F9065A8EC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5D62A-E580-7960-54C0-5BEA5D267D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C342C-0789-47D1-9EAE-AD288D6D86EB}" type="datetimeFigureOut">
              <a:rPr lang="en-IN" smtClean="0"/>
              <a:t>26-12-2025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9CEEF-5235-0662-B994-EDE0406548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12A34-6FEA-F8F0-AD01-69935CA6B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F2D64-264B-4250-8225-AAFC5670F8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367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3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.jp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C6ABAB-D79F-9D78-88A9-737816B95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7320988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104" y="2373511"/>
            <a:ext cx="6223794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583"/>
              </a:lnSpc>
            </a:pPr>
            <a:r>
              <a:rPr lang="en-US" sz="3667" b="1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Customer Shopping Behavior Analysis</a:t>
            </a:r>
            <a:endParaRPr lang="en-US" sz="3667" b="1" dirty="0"/>
          </a:p>
        </p:txBody>
      </p:sp>
      <p:sp>
        <p:nvSpPr>
          <p:cNvPr id="4" name="Text 1"/>
          <p:cNvSpPr/>
          <p:nvPr/>
        </p:nvSpPr>
        <p:spPr>
          <a:xfrm>
            <a:off x="698104" y="3846017"/>
            <a:ext cx="622379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Uncovering insights from transactional data to guide strategic business decisions.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CE93E651-0914-2D3E-1726-D6F0B6A35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59570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0"/>
            <a:ext cx="4572000" cy="68582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393" y="519707"/>
            <a:ext cx="6297216" cy="1111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375"/>
              </a:lnSpc>
            </a:pPr>
            <a:r>
              <a:rPr lang="en-US" sz="35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Project Overview &amp; Dataset Summary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661392" y="2198291"/>
            <a:ext cx="3054152" cy="1985169"/>
          </a:xfrm>
          <a:prstGeom prst="roundRect">
            <a:avLst>
              <a:gd name="adj" fmla="val 6142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61392" y="2172891"/>
            <a:ext cx="3054152" cy="101600"/>
          </a:xfrm>
          <a:prstGeom prst="roundRect">
            <a:avLst>
              <a:gd name="adj" fmla="val 78124"/>
            </a:avLst>
          </a:prstGeom>
          <a:solidFill>
            <a:srgbClr val="BE49DF"/>
          </a:solidFill>
          <a:ln/>
        </p:spPr>
      </p:sp>
      <p:sp>
        <p:nvSpPr>
          <p:cNvPr id="6" name="Shape 3"/>
          <p:cNvSpPr/>
          <p:nvPr/>
        </p:nvSpPr>
        <p:spPr>
          <a:xfrm>
            <a:off x="1905000" y="1914823"/>
            <a:ext cx="566936" cy="566936"/>
          </a:xfrm>
          <a:prstGeom prst="roundRect">
            <a:avLst>
              <a:gd name="adj" fmla="val 134407"/>
            </a:avLst>
          </a:prstGeom>
          <a:solidFill>
            <a:srgbClr val="BE49D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75061" y="2084883"/>
            <a:ext cx="226715" cy="22671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5706" y="2670671"/>
            <a:ext cx="2223294" cy="277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7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Project Goal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875705" y="3061891"/>
            <a:ext cx="2625527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Analyze 3,900 purchases to understand spending patterns, segments, and preferences.</a:t>
            </a:r>
            <a:endParaRPr lang="en-US" sz="1458" dirty="0"/>
          </a:p>
        </p:txBody>
      </p:sp>
      <p:sp>
        <p:nvSpPr>
          <p:cNvPr id="10" name="Shape 6"/>
          <p:cNvSpPr/>
          <p:nvPr/>
        </p:nvSpPr>
        <p:spPr>
          <a:xfrm>
            <a:off x="3904457" y="2198291"/>
            <a:ext cx="3054152" cy="1985169"/>
          </a:xfrm>
          <a:prstGeom prst="roundRect">
            <a:avLst>
              <a:gd name="adj" fmla="val 6142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3904457" y="2172891"/>
            <a:ext cx="3054152" cy="101600"/>
          </a:xfrm>
          <a:prstGeom prst="roundRect">
            <a:avLst>
              <a:gd name="adj" fmla="val 78124"/>
            </a:avLst>
          </a:prstGeom>
          <a:solidFill>
            <a:srgbClr val="BE49DF"/>
          </a:solidFill>
          <a:ln/>
        </p:spPr>
      </p:sp>
      <p:sp>
        <p:nvSpPr>
          <p:cNvPr id="12" name="Shape 8"/>
          <p:cNvSpPr/>
          <p:nvPr/>
        </p:nvSpPr>
        <p:spPr>
          <a:xfrm>
            <a:off x="5148065" y="1914823"/>
            <a:ext cx="566936" cy="566936"/>
          </a:xfrm>
          <a:prstGeom prst="roundRect">
            <a:avLst>
              <a:gd name="adj" fmla="val 134407"/>
            </a:avLst>
          </a:prstGeom>
          <a:solidFill>
            <a:srgbClr val="BE49D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18125" y="2084883"/>
            <a:ext cx="226715" cy="22671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118770" y="2670671"/>
            <a:ext cx="2223294" cy="277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7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Dataset Size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4118769" y="3061891"/>
            <a:ext cx="2625527" cy="781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3,900</a:t>
            </a:r>
            <a:r>
              <a:rPr lang="en-US" sz="145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Rows, </a:t>
            </a:r>
            <a:r>
              <a:rPr lang="en-US" sz="1458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18</a:t>
            </a:r>
            <a:r>
              <a:rPr lang="en-US" sz="145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Columns. Missing data (37 values).</a:t>
            </a:r>
            <a:endParaRPr lang="en-US" sz="1458" dirty="0"/>
          </a:p>
        </p:txBody>
      </p:sp>
      <p:sp>
        <p:nvSpPr>
          <p:cNvPr id="16" name="Shape 11"/>
          <p:cNvSpPr/>
          <p:nvPr/>
        </p:nvSpPr>
        <p:spPr>
          <a:xfrm>
            <a:off x="661393" y="4655840"/>
            <a:ext cx="6297216" cy="1682750"/>
          </a:xfrm>
          <a:prstGeom prst="roundRect">
            <a:avLst>
              <a:gd name="adj" fmla="val 7245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661393" y="4630440"/>
            <a:ext cx="6297216" cy="101600"/>
          </a:xfrm>
          <a:prstGeom prst="roundRect">
            <a:avLst>
              <a:gd name="adj" fmla="val 78124"/>
            </a:avLst>
          </a:prstGeom>
          <a:solidFill>
            <a:srgbClr val="BE49DF"/>
          </a:solidFill>
          <a:ln/>
        </p:spPr>
      </p:sp>
      <p:sp>
        <p:nvSpPr>
          <p:cNvPr id="18" name="Shape 13"/>
          <p:cNvSpPr/>
          <p:nvPr/>
        </p:nvSpPr>
        <p:spPr>
          <a:xfrm>
            <a:off x="3526532" y="4372372"/>
            <a:ext cx="566936" cy="566936"/>
          </a:xfrm>
          <a:prstGeom prst="roundRect">
            <a:avLst>
              <a:gd name="adj" fmla="val 134407"/>
            </a:avLst>
          </a:prstGeom>
          <a:solidFill>
            <a:srgbClr val="BE49DF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96593" y="4542433"/>
            <a:ext cx="226715" cy="22671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75706" y="5128220"/>
            <a:ext cx="2223294" cy="277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7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Key Features</a:t>
            </a:r>
            <a:endParaRPr lang="en-US" sz="1750" dirty="0"/>
          </a:p>
        </p:txBody>
      </p:sp>
      <p:sp>
        <p:nvSpPr>
          <p:cNvPr id="21" name="Text 15"/>
          <p:cNvSpPr/>
          <p:nvPr/>
        </p:nvSpPr>
        <p:spPr>
          <a:xfrm>
            <a:off x="875705" y="5519440"/>
            <a:ext cx="586859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5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Demographics, Purchase Details, Subscription Status, and Shopping Behavior.</a:t>
            </a:r>
            <a:endParaRPr lang="en-US" sz="145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FDF4D31D-F93A-82F5-D4C1-4D99AF998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9815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86098" y="539651"/>
            <a:ext cx="9467354" cy="576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500"/>
              </a:lnSpc>
            </a:pPr>
            <a:r>
              <a:rPr lang="en-US" sz="3625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Exploratory Data Analysis (EDA) in Python</a:t>
            </a:r>
            <a:endParaRPr lang="en-US" sz="3625" dirty="0"/>
          </a:p>
        </p:txBody>
      </p:sp>
      <p:sp>
        <p:nvSpPr>
          <p:cNvPr id="3" name="Shape 1"/>
          <p:cNvSpPr/>
          <p:nvPr/>
        </p:nvSpPr>
        <p:spPr>
          <a:xfrm>
            <a:off x="980083" y="1998266"/>
            <a:ext cx="5017790" cy="195957"/>
          </a:xfrm>
          <a:prstGeom prst="roundRect">
            <a:avLst>
              <a:gd name="adj" fmla="val 4201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6098" y="1802161"/>
            <a:ext cx="588069" cy="588069"/>
          </a:xfrm>
          <a:prstGeom prst="roundRect">
            <a:avLst>
              <a:gd name="adj" fmla="val 64788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3140" y="1949202"/>
            <a:ext cx="293985" cy="2939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2055" y="2586236"/>
            <a:ext cx="2306241" cy="288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792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Data Preparation</a:t>
            </a:r>
            <a:endParaRPr lang="en-US" sz="1792" dirty="0"/>
          </a:p>
        </p:txBody>
      </p:sp>
      <p:sp>
        <p:nvSpPr>
          <p:cNvPr id="7" name="Text 4"/>
          <p:cNvSpPr/>
          <p:nvPr/>
        </p:nvSpPr>
        <p:spPr>
          <a:xfrm>
            <a:off x="882055" y="2992041"/>
            <a:ext cx="4919960" cy="627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58"/>
              </a:lnSpc>
            </a:pPr>
            <a:r>
              <a:rPr lang="en-US" sz="154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Load data, check structure </a:t>
            </a:r>
            <a:r>
              <a:rPr lang="en-US" sz="1542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df.info()</a:t>
            </a:r>
            <a:r>
              <a:rPr lang="en-US" sz="154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and summary statistics </a:t>
            </a:r>
            <a:r>
              <a:rPr lang="en-US" sz="1542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df.describe()</a:t>
            </a:r>
            <a:r>
              <a:rPr lang="en-US" sz="154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542" dirty="0"/>
          </a:p>
        </p:txBody>
      </p:sp>
      <p:sp>
        <p:nvSpPr>
          <p:cNvPr id="8" name="Shape 5"/>
          <p:cNvSpPr/>
          <p:nvPr/>
        </p:nvSpPr>
        <p:spPr>
          <a:xfrm>
            <a:off x="6487915" y="1704281"/>
            <a:ext cx="5017889" cy="195957"/>
          </a:xfrm>
          <a:prstGeom prst="roundRect">
            <a:avLst>
              <a:gd name="adj" fmla="val 4201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193930" y="1508176"/>
            <a:ext cx="588069" cy="588069"/>
          </a:xfrm>
          <a:prstGeom prst="roundRect">
            <a:avLst>
              <a:gd name="adj" fmla="val 64788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40971" y="1655217"/>
            <a:ext cx="293985" cy="29398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89886" y="2292251"/>
            <a:ext cx="2527300" cy="288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792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Cleaning &amp; Imputation</a:t>
            </a:r>
            <a:endParaRPr lang="en-US" sz="1792" dirty="0"/>
          </a:p>
        </p:txBody>
      </p:sp>
      <p:sp>
        <p:nvSpPr>
          <p:cNvPr id="12" name="Text 8"/>
          <p:cNvSpPr/>
          <p:nvPr/>
        </p:nvSpPr>
        <p:spPr>
          <a:xfrm>
            <a:off x="6389886" y="2698056"/>
            <a:ext cx="4920059" cy="627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58"/>
              </a:lnSpc>
            </a:pPr>
            <a:r>
              <a:rPr lang="en-US" sz="154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Handled missing Review Rating values using median per product category.</a:t>
            </a:r>
            <a:endParaRPr lang="en-US" sz="1542" dirty="0"/>
          </a:p>
        </p:txBody>
      </p:sp>
      <p:sp>
        <p:nvSpPr>
          <p:cNvPr id="13" name="Shape 9"/>
          <p:cNvSpPr/>
          <p:nvPr/>
        </p:nvSpPr>
        <p:spPr>
          <a:xfrm>
            <a:off x="980083" y="4501257"/>
            <a:ext cx="5017790" cy="195957"/>
          </a:xfrm>
          <a:prstGeom prst="roundRect">
            <a:avLst>
              <a:gd name="adj" fmla="val 4201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6098" y="4305151"/>
            <a:ext cx="588069" cy="588069"/>
          </a:xfrm>
          <a:prstGeom prst="roundRect">
            <a:avLst>
              <a:gd name="adj" fmla="val 64788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3140" y="4452193"/>
            <a:ext cx="293985" cy="29398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82055" y="5089228"/>
            <a:ext cx="2306241" cy="288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792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Feature Engineering</a:t>
            </a:r>
            <a:endParaRPr lang="en-US" sz="1792" dirty="0"/>
          </a:p>
        </p:txBody>
      </p:sp>
      <p:sp>
        <p:nvSpPr>
          <p:cNvPr id="17" name="Text 12"/>
          <p:cNvSpPr/>
          <p:nvPr/>
        </p:nvSpPr>
        <p:spPr>
          <a:xfrm>
            <a:off x="882055" y="5495032"/>
            <a:ext cx="4919960" cy="627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58"/>
              </a:lnSpc>
            </a:pPr>
            <a:r>
              <a:rPr lang="en-US" sz="154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Created </a:t>
            </a:r>
            <a:r>
              <a:rPr lang="en-US" sz="1542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age_group</a:t>
            </a:r>
            <a:r>
              <a:rPr lang="en-US" sz="154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r>
              <a:rPr lang="en-US" sz="1542" b="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purchase_frequency_days</a:t>
            </a:r>
            <a:r>
              <a:rPr lang="en-US" sz="154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columns.</a:t>
            </a:r>
            <a:endParaRPr lang="en-US" sz="1542" dirty="0"/>
          </a:p>
        </p:txBody>
      </p:sp>
      <p:sp>
        <p:nvSpPr>
          <p:cNvPr id="18" name="Shape 13"/>
          <p:cNvSpPr/>
          <p:nvPr/>
        </p:nvSpPr>
        <p:spPr>
          <a:xfrm>
            <a:off x="6487915" y="4207272"/>
            <a:ext cx="5017889" cy="195957"/>
          </a:xfrm>
          <a:prstGeom prst="roundRect">
            <a:avLst>
              <a:gd name="adj" fmla="val 4201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193930" y="4011166"/>
            <a:ext cx="588069" cy="588069"/>
          </a:xfrm>
          <a:prstGeom prst="roundRect">
            <a:avLst>
              <a:gd name="adj" fmla="val 64788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40971" y="4158208"/>
            <a:ext cx="293985" cy="29398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89886" y="4795243"/>
            <a:ext cx="2306241" cy="288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792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Integration</a:t>
            </a:r>
            <a:endParaRPr lang="en-US" sz="1792" dirty="0"/>
          </a:p>
        </p:txBody>
      </p:sp>
      <p:sp>
        <p:nvSpPr>
          <p:cNvPr id="22" name="Text 16"/>
          <p:cNvSpPr/>
          <p:nvPr/>
        </p:nvSpPr>
        <p:spPr>
          <a:xfrm>
            <a:off x="6389886" y="5201047"/>
            <a:ext cx="4920059" cy="627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58"/>
              </a:lnSpc>
            </a:pPr>
            <a:r>
              <a:rPr lang="en-US" sz="154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Loaded cleaned DataFrame into MySQL for structured SQL analysis.</a:t>
            </a:r>
            <a:endParaRPr lang="en-US" sz="15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15783CB-ADD6-2B54-061D-8583CCF76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36921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99579" y="471091"/>
            <a:ext cx="6714033" cy="503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958"/>
              </a:lnSpc>
            </a:pPr>
            <a:r>
              <a:rPr lang="en-US" sz="3167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SQL Analysis: Revenue &amp; Spending</a:t>
            </a:r>
            <a:endParaRPr lang="en-US" sz="3167" dirty="0"/>
          </a:p>
        </p:txBody>
      </p:sp>
      <p:sp>
        <p:nvSpPr>
          <p:cNvPr id="3" name="Text 1"/>
          <p:cNvSpPr/>
          <p:nvPr/>
        </p:nvSpPr>
        <p:spPr>
          <a:xfrm>
            <a:off x="599579" y="1403053"/>
            <a:ext cx="2015332" cy="25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2000" b="1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Revenue by Gender</a:t>
            </a:r>
            <a:endParaRPr lang="en-US" sz="2000" b="1" dirty="0"/>
          </a:p>
        </p:txBody>
      </p:sp>
      <p:sp>
        <p:nvSpPr>
          <p:cNvPr id="4" name="Text 2"/>
          <p:cNvSpPr/>
          <p:nvPr/>
        </p:nvSpPr>
        <p:spPr>
          <a:xfrm>
            <a:off x="599579" y="1826121"/>
            <a:ext cx="6428482" cy="274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Compared total revenue generated by male vs. female customers.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579" y="2292945"/>
            <a:ext cx="3903960" cy="3903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52320" y="1403053"/>
            <a:ext cx="2962275" cy="25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2000" b="1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High-Spending Discount Users</a:t>
            </a:r>
            <a:endParaRPr lang="en-US" sz="2000" b="1" dirty="0"/>
          </a:p>
        </p:txBody>
      </p:sp>
      <p:sp>
        <p:nvSpPr>
          <p:cNvPr id="7" name="Text 4"/>
          <p:cNvSpPr/>
          <p:nvPr/>
        </p:nvSpPr>
        <p:spPr>
          <a:xfrm>
            <a:off x="7452320" y="1826121"/>
            <a:ext cx="4146352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Identified customers who used discounts but still spent above the average purchase amount.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52320" y="2528491"/>
            <a:ext cx="4146352" cy="274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333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Average spent :  $59.76</a:t>
            </a:r>
            <a:endParaRPr lang="en-US" sz="1333" dirty="0"/>
          </a:p>
        </p:txBody>
      </p:sp>
      <p:sp>
        <p:nvSpPr>
          <p:cNvPr id="9" name="Text 6"/>
          <p:cNvSpPr/>
          <p:nvPr/>
        </p:nvSpPr>
        <p:spPr>
          <a:xfrm>
            <a:off x="7452320" y="2956719"/>
            <a:ext cx="4146352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Number of customer who spend more than Average spend: 1963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09198" y="3697684"/>
            <a:ext cx="3889474" cy="274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333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Example: Customer 4 spent $90, Customer 9 spent $97.</a:t>
            </a:r>
            <a:endParaRPr lang="en-US" sz="1333" dirty="0"/>
          </a:p>
        </p:txBody>
      </p:sp>
      <p:sp>
        <p:nvSpPr>
          <p:cNvPr id="11" name="Shape 8"/>
          <p:cNvSpPr/>
          <p:nvPr/>
        </p:nvSpPr>
        <p:spPr>
          <a:xfrm>
            <a:off x="7452320" y="3697684"/>
            <a:ext cx="19050" cy="274142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12" name="Text 9"/>
          <p:cNvSpPr/>
          <p:nvPr/>
        </p:nvSpPr>
        <p:spPr>
          <a:xfrm>
            <a:off x="7452320" y="4164509"/>
            <a:ext cx="2638326" cy="25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958"/>
              </a:lnSpc>
            </a:pPr>
            <a:r>
              <a:rPr lang="en-US" sz="2000" b="1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Shipping Type Comparison</a:t>
            </a:r>
            <a:endParaRPr lang="en-US" sz="2000" b="1" dirty="0"/>
          </a:p>
        </p:txBody>
      </p:sp>
      <p:sp>
        <p:nvSpPr>
          <p:cNvPr id="13" name="Text 10"/>
          <p:cNvSpPr/>
          <p:nvPr/>
        </p:nvSpPr>
        <p:spPr>
          <a:xfrm>
            <a:off x="7452320" y="4587578"/>
            <a:ext cx="4146352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125"/>
              </a:lnSpc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Express shipping users have a higher average purchase amount.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452320" y="5289947"/>
            <a:ext cx="4146352" cy="274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125"/>
              </a:lnSpc>
              <a:buSzPct val="100000"/>
              <a:buChar char="•"/>
            </a:pPr>
            <a:r>
              <a:rPr lang="en-US" sz="1333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Express: </a:t>
            </a:r>
            <a:r>
              <a:rPr lang="en-US" sz="1333" dirty="0">
                <a:solidFill>
                  <a:srgbClr val="BE49D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~ $60.48</a:t>
            </a:r>
            <a:endParaRPr lang="en-US" sz="1333" dirty="0"/>
          </a:p>
        </p:txBody>
      </p:sp>
      <p:sp>
        <p:nvSpPr>
          <p:cNvPr id="15" name="Text 12"/>
          <p:cNvSpPr/>
          <p:nvPr/>
        </p:nvSpPr>
        <p:spPr>
          <a:xfrm>
            <a:off x="7452320" y="5624017"/>
            <a:ext cx="4146352" cy="274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125"/>
              </a:lnSpc>
              <a:buSzPct val="100000"/>
              <a:buChar char="•"/>
            </a:pPr>
            <a:r>
              <a:rPr lang="en-US" sz="1333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Standard: ~ $58.46</a:t>
            </a:r>
            <a:endParaRPr lang="en-US" sz="133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46D4B696-8275-86DB-23AC-318C44779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7407798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12192000" cy="23705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3774" y="2892029"/>
            <a:ext cx="7634288" cy="557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375"/>
              </a:lnSpc>
            </a:pPr>
            <a:r>
              <a:rPr lang="en-US" sz="3500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SQL Analysis: Product Performance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663774" y="3734197"/>
            <a:ext cx="5337373" cy="2604691"/>
          </a:xfrm>
          <a:prstGeom prst="roundRect">
            <a:avLst>
              <a:gd name="adj" fmla="val 4681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6BAD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8373" y="3734197"/>
            <a:ext cx="101600" cy="2604691"/>
          </a:xfrm>
          <a:prstGeom prst="roundRect">
            <a:avLst>
              <a:gd name="adj" fmla="val 78399"/>
            </a:avLst>
          </a:prstGeom>
          <a:solidFill>
            <a:srgbClr val="BE49DF"/>
          </a:solidFill>
          <a:ln/>
        </p:spPr>
      </p:sp>
      <p:sp>
        <p:nvSpPr>
          <p:cNvPr id="6" name="Text 3"/>
          <p:cNvSpPr/>
          <p:nvPr/>
        </p:nvSpPr>
        <p:spPr>
          <a:xfrm>
            <a:off x="954981" y="3949205"/>
            <a:ext cx="2672755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750" b="1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Top 5 Products by Rating</a:t>
            </a:r>
            <a:endParaRPr lang="en-US" sz="1750" b="1" dirty="0"/>
          </a:p>
        </p:txBody>
      </p:sp>
      <p:sp>
        <p:nvSpPr>
          <p:cNvPr id="7" name="Text 4"/>
          <p:cNvSpPr/>
          <p:nvPr/>
        </p:nvSpPr>
        <p:spPr>
          <a:xfrm>
            <a:off x="954981" y="4341812"/>
            <a:ext cx="4831159" cy="303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Gloves: 3.86</a:t>
            </a:r>
            <a:endParaRPr lang="en-US" sz="1458" dirty="0"/>
          </a:p>
        </p:txBody>
      </p:sp>
      <p:sp>
        <p:nvSpPr>
          <p:cNvPr id="8" name="Text 5"/>
          <p:cNvSpPr/>
          <p:nvPr/>
        </p:nvSpPr>
        <p:spPr>
          <a:xfrm>
            <a:off x="954981" y="4711502"/>
            <a:ext cx="4831159" cy="303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Sandals: 3.84</a:t>
            </a:r>
            <a:endParaRPr lang="en-US" sz="1458" dirty="0"/>
          </a:p>
        </p:txBody>
      </p:sp>
      <p:sp>
        <p:nvSpPr>
          <p:cNvPr id="9" name="Text 6"/>
          <p:cNvSpPr/>
          <p:nvPr/>
        </p:nvSpPr>
        <p:spPr>
          <a:xfrm>
            <a:off x="954981" y="5081191"/>
            <a:ext cx="4831159" cy="303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Boots: 3.82</a:t>
            </a:r>
            <a:endParaRPr lang="en-US" sz="1458" dirty="0"/>
          </a:p>
        </p:txBody>
      </p:sp>
      <p:sp>
        <p:nvSpPr>
          <p:cNvPr id="10" name="Text 7"/>
          <p:cNvSpPr/>
          <p:nvPr/>
        </p:nvSpPr>
        <p:spPr>
          <a:xfrm>
            <a:off x="954981" y="5450880"/>
            <a:ext cx="4831159" cy="303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Hat: 3.8</a:t>
            </a:r>
            <a:endParaRPr lang="en-US" sz="1458" dirty="0"/>
          </a:p>
        </p:txBody>
      </p:sp>
      <p:sp>
        <p:nvSpPr>
          <p:cNvPr id="11" name="Text 8"/>
          <p:cNvSpPr/>
          <p:nvPr/>
        </p:nvSpPr>
        <p:spPr>
          <a:xfrm>
            <a:off x="954981" y="5820569"/>
            <a:ext cx="4831159" cy="303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Skirt: 3.78</a:t>
            </a:r>
            <a:endParaRPr lang="en-US" sz="1458" dirty="0"/>
          </a:p>
        </p:txBody>
      </p:sp>
      <p:sp>
        <p:nvSpPr>
          <p:cNvPr id="12" name="Shape 9"/>
          <p:cNvSpPr/>
          <p:nvPr/>
        </p:nvSpPr>
        <p:spPr>
          <a:xfrm>
            <a:off x="6190754" y="3734197"/>
            <a:ext cx="5337473" cy="2604691"/>
          </a:xfrm>
          <a:prstGeom prst="roundRect">
            <a:avLst>
              <a:gd name="adj" fmla="val 4681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D6BAD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65354" y="3734197"/>
            <a:ext cx="101600" cy="2604691"/>
          </a:xfrm>
          <a:prstGeom prst="roundRect">
            <a:avLst>
              <a:gd name="adj" fmla="val 78399"/>
            </a:avLst>
          </a:prstGeom>
          <a:solidFill>
            <a:srgbClr val="BE49DF"/>
          </a:solidFill>
          <a:ln/>
        </p:spPr>
      </p:sp>
      <p:sp>
        <p:nvSpPr>
          <p:cNvPr id="14" name="Text 11"/>
          <p:cNvSpPr/>
          <p:nvPr/>
        </p:nvSpPr>
        <p:spPr>
          <a:xfrm>
            <a:off x="6481961" y="3949205"/>
            <a:ext cx="3029644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167"/>
              </a:lnSpc>
            </a:pPr>
            <a:r>
              <a:rPr lang="en-US" sz="1750" b="1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Top 3 Products per Category</a:t>
            </a:r>
            <a:endParaRPr lang="en-US" sz="1750" b="1" dirty="0"/>
          </a:p>
        </p:txBody>
      </p:sp>
      <p:sp>
        <p:nvSpPr>
          <p:cNvPr id="15" name="Text 12"/>
          <p:cNvSpPr/>
          <p:nvPr/>
        </p:nvSpPr>
        <p:spPr>
          <a:xfrm>
            <a:off x="6481961" y="4341812"/>
            <a:ext cx="4831258" cy="303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Clothing: Blouse, Pants, Shirt</a:t>
            </a:r>
            <a:endParaRPr lang="en-US" sz="1458" dirty="0"/>
          </a:p>
        </p:txBody>
      </p:sp>
      <p:sp>
        <p:nvSpPr>
          <p:cNvPr id="16" name="Text 13"/>
          <p:cNvSpPr/>
          <p:nvPr/>
        </p:nvSpPr>
        <p:spPr>
          <a:xfrm>
            <a:off x="6481961" y="4711502"/>
            <a:ext cx="4831258" cy="303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Outerwear: Jacket, Coat</a:t>
            </a:r>
            <a:endParaRPr lang="en-US" sz="1458" dirty="0"/>
          </a:p>
        </p:txBody>
      </p:sp>
      <p:sp>
        <p:nvSpPr>
          <p:cNvPr id="17" name="Text 14"/>
          <p:cNvSpPr/>
          <p:nvPr/>
        </p:nvSpPr>
        <p:spPr>
          <a:xfrm>
            <a:off x="6481961" y="5081191"/>
            <a:ext cx="4831258" cy="303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Accessories: Jewelry, Sunglasses, Belt</a:t>
            </a:r>
            <a:endParaRPr lang="en-US" sz="1458" dirty="0"/>
          </a:p>
        </p:txBody>
      </p:sp>
      <p:sp>
        <p:nvSpPr>
          <p:cNvPr id="18" name="Text 15"/>
          <p:cNvSpPr/>
          <p:nvPr/>
        </p:nvSpPr>
        <p:spPr>
          <a:xfrm>
            <a:off x="6481961" y="5450880"/>
            <a:ext cx="4831258" cy="303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2375"/>
              </a:lnSpc>
              <a:buSzPct val="100000"/>
              <a:buChar char="•"/>
            </a:pPr>
            <a:r>
              <a:rPr lang="en-US" sz="145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Clothing: Blouse, Pants, Shirts</a:t>
            </a:r>
            <a:endParaRPr lang="en-US" sz="145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C9BB37A2-2282-610F-5E2E-7C693C9E3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1999" cy="789972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98103" y="588170"/>
            <a:ext cx="8336757" cy="586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583"/>
              </a:lnSpc>
            </a:pPr>
            <a:r>
              <a:rPr lang="en-US" sz="3667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SQL Analysis: Subscription &amp; Loyalty</a:t>
            </a:r>
            <a:endParaRPr lang="en-US" sz="3667" dirty="0"/>
          </a:p>
        </p:txBody>
      </p:sp>
      <p:sp>
        <p:nvSpPr>
          <p:cNvPr id="3" name="Shape 1"/>
          <p:cNvSpPr/>
          <p:nvPr/>
        </p:nvSpPr>
        <p:spPr>
          <a:xfrm>
            <a:off x="698104" y="1573807"/>
            <a:ext cx="10795793" cy="1462882"/>
          </a:xfrm>
          <a:prstGeom prst="roundRect">
            <a:avLst>
              <a:gd name="adj" fmla="val 5727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453" y="1580157"/>
            <a:ext cx="5391547" cy="1450182"/>
          </a:xfrm>
          <a:prstGeom prst="roundRect">
            <a:avLst>
              <a:gd name="adj" fmla="val 5777"/>
            </a:avLst>
          </a:prstGeom>
          <a:solidFill>
            <a:srgbClr val="F0D4F7"/>
          </a:solidFill>
          <a:ln/>
        </p:spPr>
      </p:sp>
      <p:sp>
        <p:nvSpPr>
          <p:cNvPr id="5" name="Text 3"/>
          <p:cNvSpPr/>
          <p:nvPr/>
        </p:nvSpPr>
        <p:spPr>
          <a:xfrm>
            <a:off x="903883" y="1779588"/>
            <a:ext cx="3658593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Subscribers vs. Non-Subscribers</a:t>
            </a:r>
            <a:endParaRPr lang="en-US" sz="1833" b="1" dirty="0"/>
          </a:p>
        </p:txBody>
      </p:sp>
      <p:sp>
        <p:nvSpPr>
          <p:cNvPr id="6" name="Text 4"/>
          <p:cNvSpPr/>
          <p:nvPr/>
        </p:nvSpPr>
        <p:spPr>
          <a:xfrm>
            <a:off x="903883" y="2192536"/>
            <a:ext cx="499268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Non-subscribers have a slightly higher average spend, but subscribers drive significant total revenue.</a:t>
            </a:r>
            <a:endParaRPr lang="en-US" sz="1542" dirty="0"/>
          </a:p>
        </p:txBody>
      </p:sp>
      <p:sp>
        <p:nvSpPr>
          <p:cNvPr id="7" name="Shape 5"/>
          <p:cNvSpPr/>
          <p:nvPr/>
        </p:nvSpPr>
        <p:spPr>
          <a:xfrm>
            <a:off x="6096000" y="1580157"/>
            <a:ext cx="5391547" cy="1450182"/>
          </a:xfrm>
          <a:prstGeom prst="rect">
            <a:avLst/>
          </a:prstGeom>
          <a:solidFill>
            <a:srgbClr val="F0D4F7"/>
          </a:solidFill>
          <a:ln/>
        </p:spPr>
      </p:sp>
      <p:sp>
        <p:nvSpPr>
          <p:cNvPr id="8" name="Shape 6"/>
          <p:cNvSpPr/>
          <p:nvPr/>
        </p:nvSpPr>
        <p:spPr>
          <a:xfrm>
            <a:off x="6096000" y="1580157"/>
            <a:ext cx="25400" cy="1450182"/>
          </a:xfrm>
          <a:prstGeom prst="roundRect">
            <a:avLst>
              <a:gd name="adj" fmla="val 329856"/>
            </a:avLst>
          </a:prstGeom>
          <a:solidFill>
            <a:srgbClr val="D6BADD"/>
          </a:solidFill>
          <a:ln/>
        </p:spPr>
      </p:sp>
      <p:sp>
        <p:nvSpPr>
          <p:cNvPr id="9" name="Text 7"/>
          <p:cNvSpPr/>
          <p:nvPr/>
        </p:nvSpPr>
        <p:spPr>
          <a:xfrm>
            <a:off x="6295431" y="1779588"/>
            <a:ext cx="34570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Repeat Buyers &amp; Subscriptions</a:t>
            </a:r>
            <a:endParaRPr lang="en-US" sz="1833" b="1" dirty="0"/>
          </a:p>
        </p:txBody>
      </p:sp>
      <p:sp>
        <p:nvSpPr>
          <p:cNvPr id="10" name="Text 8"/>
          <p:cNvSpPr/>
          <p:nvPr/>
        </p:nvSpPr>
        <p:spPr>
          <a:xfrm>
            <a:off x="6295430" y="2192536"/>
            <a:ext cx="499268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Customers with &gt;5 purchases are more likely to be subscribers (958 Yes vs. 2518 No).</a:t>
            </a:r>
            <a:endParaRPr lang="en-US" sz="1542" dirty="0"/>
          </a:p>
        </p:txBody>
      </p:sp>
      <p:sp>
        <p:nvSpPr>
          <p:cNvPr id="11" name="Text 9"/>
          <p:cNvSpPr/>
          <p:nvPr/>
        </p:nvSpPr>
        <p:spPr>
          <a:xfrm>
            <a:off x="698104" y="3335834"/>
            <a:ext cx="3271441" cy="35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8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Customer Segmentation</a:t>
            </a:r>
            <a:endParaRPr lang="en-US" sz="2208" dirty="0"/>
          </a:p>
        </p:txBody>
      </p:sp>
      <p:sp>
        <p:nvSpPr>
          <p:cNvPr id="12" name="Text 10"/>
          <p:cNvSpPr/>
          <p:nvPr/>
        </p:nvSpPr>
        <p:spPr>
          <a:xfrm>
            <a:off x="698104" y="3986907"/>
            <a:ext cx="1079579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Classified customers based on purchase history:</a:t>
            </a:r>
            <a:endParaRPr lang="en-US" sz="1542" dirty="0"/>
          </a:p>
        </p:txBody>
      </p:sp>
      <p:sp>
        <p:nvSpPr>
          <p:cNvPr id="13" name="Text 11"/>
          <p:cNvSpPr/>
          <p:nvPr/>
        </p:nvSpPr>
        <p:spPr>
          <a:xfrm>
            <a:off x="698104" y="4630143"/>
            <a:ext cx="3432373" cy="65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166"/>
              </a:lnSpc>
            </a:pPr>
            <a:r>
              <a:rPr lang="en-US" sz="5166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3116</a:t>
            </a:r>
            <a:endParaRPr lang="en-US" sz="5166" dirty="0"/>
          </a:p>
        </p:txBody>
      </p:sp>
      <p:sp>
        <p:nvSpPr>
          <p:cNvPr id="14" name="Text 12"/>
          <p:cNvSpPr/>
          <p:nvPr/>
        </p:nvSpPr>
        <p:spPr>
          <a:xfrm>
            <a:off x="1240830" y="5537597"/>
            <a:ext cx="23468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92"/>
              </a:lnSpc>
            </a:pPr>
            <a:r>
              <a:rPr lang="en-US" sz="1833" b="1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Loyal</a:t>
            </a:r>
            <a:endParaRPr lang="en-US" sz="1833" b="1" dirty="0"/>
          </a:p>
        </p:txBody>
      </p:sp>
      <p:sp>
        <p:nvSpPr>
          <p:cNvPr id="15" name="Text 13"/>
          <p:cNvSpPr/>
          <p:nvPr/>
        </p:nvSpPr>
        <p:spPr>
          <a:xfrm>
            <a:off x="698104" y="5950545"/>
            <a:ext cx="343237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500"/>
              </a:lnSpc>
            </a:pPr>
            <a:r>
              <a:rPr lang="en-US" sz="154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Highest segment count.</a:t>
            </a:r>
            <a:endParaRPr lang="en-US" sz="1542" dirty="0"/>
          </a:p>
        </p:txBody>
      </p:sp>
      <p:sp>
        <p:nvSpPr>
          <p:cNvPr id="16" name="Text 14"/>
          <p:cNvSpPr/>
          <p:nvPr/>
        </p:nvSpPr>
        <p:spPr>
          <a:xfrm>
            <a:off x="4379814" y="4630143"/>
            <a:ext cx="3432373" cy="65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166"/>
              </a:lnSpc>
            </a:pPr>
            <a:r>
              <a:rPr lang="en-US" sz="5166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701</a:t>
            </a:r>
            <a:endParaRPr lang="en-US" sz="5166" dirty="0"/>
          </a:p>
        </p:txBody>
      </p:sp>
      <p:sp>
        <p:nvSpPr>
          <p:cNvPr id="17" name="Text 15"/>
          <p:cNvSpPr/>
          <p:nvPr/>
        </p:nvSpPr>
        <p:spPr>
          <a:xfrm>
            <a:off x="4922540" y="5537597"/>
            <a:ext cx="23468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92"/>
              </a:lnSpc>
            </a:pPr>
            <a:r>
              <a:rPr lang="en-US" sz="1833" b="1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Returning</a:t>
            </a:r>
            <a:endParaRPr lang="en-US" sz="1833" b="1" dirty="0"/>
          </a:p>
        </p:txBody>
      </p:sp>
      <p:sp>
        <p:nvSpPr>
          <p:cNvPr id="18" name="Text 16"/>
          <p:cNvSpPr/>
          <p:nvPr/>
        </p:nvSpPr>
        <p:spPr>
          <a:xfrm>
            <a:off x="4379814" y="5950545"/>
            <a:ext cx="343237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500"/>
              </a:lnSpc>
            </a:pPr>
            <a:r>
              <a:rPr lang="en-US" sz="154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Mid-level engagement.</a:t>
            </a:r>
            <a:endParaRPr lang="en-US" sz="1542" dirty="0"/>
          </a:p>
        </p:txBody>
      </p:sp>
      <p:sp>
        <p:nvSpPr>
          <p:cNvPr id="19" name="Text 17"/>
          <p:cNvSpPr/>
          <p:nvPr/>
        </p:nvSpPr>
        <p:spPr>
          <a:xfrm>
            <a:off x="8061524" y="4630143"/>
            <a:ext cx="3432373" cy="65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166"/>
              </a:lnSpc>
            </a:pPr>
            <a:r>
              <a:rPr lang="en-US" sz="5166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83</a:t>
            </a:r>
            <a:endParaRPr lang="en-US" sz="5166" dirty="0"/>
          </a:p>
        </p:txBody>
      </p:sp>
      <p:sp>
        <p:nvSpPr>
          <p:cNvPr id="20" name="Text 18"/>
          <p:cNvSpPr/>
          <p:nvPr/>
        </p:nvSpPr>
        <p:spPr>
          <a:xfrm>
            <a:off x="8604250" y="5537597"/>
            <a:ext cx="23468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292"/>
              </a:lnSpc>
            </a:pPr>
            <a:r>
              <a:rPr lang="en-US" sz="1833" b="1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New</a:t>
            </a:r>
            <a:endParaRPr lang="en-US" sz="1833" b="1" dirty="0"/>
          </a:p>
        </p:txBody>
      </p:sp>
      <p:sp>
        <p:nvSpPr>
          <p:cNvPr id="21" name="Text 19"/>
          <p:cNvSpPr/>
          <p:nvPr/>
        </p:nvSpPr>
        <p:spPr>
          <a:xfrm>
            <a:off x="8061524" y="5950545"/>
            <a:ext cx="343237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500"/>
              </a:lnSpc>
            </a:pPr>
            <a:r>
              <a:rPr lang="en-US" sz="154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Smallest segment.</a:t>
            </a:r>
            <a:endParaRPr lang="en-US" sz="154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6E3830-35A4-40D2-73C2-453E1FD1B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646" y="0"/>
            <a:ext cx="12192000" cy="780950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0949" y="354310"/>
            <a:ext cx="5276652" cy="379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58"/>
              </a:lnSpc>
            </a:pPr>
            <a:r>
              <a:rPr lang="en-US" sz="2375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Revenue Contribution by Age Group</a:t>
            </a:r>
            <a:endParaRPr lang="en-US" sz="2375" dirty="0"/>
          </a:p>
        </p:txBody>
      </p:sp>
      <p:sp>
        <p:nvSpPr>
          <p:cNvPr id="3" name="Text 1"/>
          <p:cNvSpPr/>
          <p:nvPr/>
        </p:nvSpPr>
        <p:spPr>
          <a:xfrm>
            <a:off x="450949" y="733326"/>
            <a:ext cx="11290102" cy="206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83"/>
              </a:lnSpc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Understanding which age groups generate the most total revenue.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292" y="939504"/>
            <a:ext cx="11290102" cy="63224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0949" y="7809508"/>
            <a:ext cx="11290102" cy="2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83"/>
              </a:lnSpc>
            </a:pPr>
            <a:r>
              <a:rPr lang="en-US" sz="1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Young Adults and Middle-Aged customers are the highest revenue contributors.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F811F0F-C8BF-56C1-370A-3A0B491C8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1999" cy="7504253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70104" y="1677988"/>
            <a:ext cx="6223794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583"/>
              </a:lnSpc>
            </a:pPr>
            <a:r>
              <a:rPr lang="en-US" sz="3667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Visualizing Insights: Power BI Dashboard</a:t>
            </a:r>
            <a:endParaRPr lang="en-US" sz="3667" dirty="0"/>
          </a:p>
        </p:txBody>
      </p:sp>
      <p:sp>
        <p:nvSpPr>
          <p:cNvPr id="4" name="Text 1"/>
          <p:cNvSpPr/>
          <p:nvPr/>
        </p:nvSpPr>
        <p:spPr>
          <a:xfrm>
            <a:off x="5270104" y="3150494"/>
            <a:ext cx="622379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Interactive dashboard built to present key findings visually and facilitate deeper exploration.</a:t>
            </a:r>
            <a:endParaRPr lang="en-US" sz="1542" dirty="0"/>
          </a:p>
        </p:txBody>
      </p:sp>
      <p:sp>
        <p:nvSpPr>
          <p:cNvPr id="5" name="Shape 2"/>
          <p:cNvSpPr/>
          <p:nvPr/>
        </p:nvSpPr>
        <p:spPr>
          <a:xfrm>
            <a:off x="5270104" y="4013200"/>
            <a:ext cx="6223794" cy="1166813"/>
          </a:xfrm>
          <a:prstGeom prst="roundRect">
            <a:avLst>
              <a:gd name="adj" fmla="val 7181"/>
            </a:avLst>
          </a:prstGeom>
          <a:solidFill>
            <a:srgbClr val="E8BEF4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9532" y="4303812"/>
            <a:ext cx="249337" cy="1994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18299" y="4262438"/>
            <a:ext cx="537616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dashboard integrates all Python and SQL analysis for real-time decision support.</a:t>
            </a:r>
            <a:endParaRPr lang="en-US" sz="154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11778F-38AA-5D85-E644-46FDD5B8A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44638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98104" y="681931"/>
            <a:ext cx="6934498" cy="586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583"/>
              </a:lnSpc>
            </a:pPr>
            <a:r>
              <a:rPr lang="en-US" sz="3667" b="1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Customer Behavior Dashboard</a:t>
            </a:r>
            <a:endParaRPr lang="en-US" sz="3667" b="1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103" y="1268612"/>
            <a:ext cx="8397669" cy="54543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11A46E4-1F48-18C2-39B1-B44D709F0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7407798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70104" y="716757"/>
            <a:ext cx="6223794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583"/>
              </a:lnSpc>
            </a:pPr>
            <a:r>
              <a:rPr lang="en-US" sz="3667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Key Business Recommendations</a:t>
            </a:r>
            <a:endParaRPr lang="en-US" sz="3667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44915" y="2195463"/>
            <a:ext cx="299144" cy="2991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18300" y="2189262"/>
            <a:ext cx="23468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Boost Subscriptions</a:t>
            </a:r>
            <a:endParaRPr lang="en-US" sz="1833" b="1" dirty="0"/>
          </a:p>
        </p:txBody>
      </p:sp>
      <p:sp>
        <p:nvSpPr>
          <p:cNvPr id="6" name="Text 2"/>
          <p:cNvSpPr/>
          <p:nvPr/>
        </p:nvSpPr>
        <p:spPr>
          <a:xfrm>
            <a:off x="5918299" y="2602210"/>
            <a:ext cx="557559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Promote exclusive benefits to increase subscriber base and retention.</a:t>
            </a:r>
            <a:endParaRPr lang="en-US" sz="1542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44915" y="3645744"/>
            <a:ext cx="299144" cy="29914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18300" y="3639543"/>
            <a:ext cx="234682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Customer Loyalty</a:t>
            </a:r>
            <a:endParaRPr lang="en-US" sz="1833" b="1" dirty="0"/>
          </a:p>
        </p:txBody>
      </p:sp>
      <p:sp>
        <p:nvSpPr>
          <p:cNvPr id="9" name="Text 4"/>
          <p:cNvSpPr/>
          <p:nvPr/>
        </p:nvSpPr>
        <p:spPr>
          <a:xfrm>
            <a:off x="5918299" y="4052491"/>
            <a:ext cx="557559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Implement programs to reward repeat buyers and move them to the "Loyal" segment.</a:t>
            </a:r>
            <a:endParaRPr lang="en-US" sz="1542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44915" y="5096025"/>
            <a:ext cx="299144" cy="29914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18299" y="5089823"/>
            <a:ext cx="2650033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92"/>
              </a:lnSpc>
            </a:pPr>
            <a:r>
              <a:rPr lang="en-US" sz="1833" b="1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Review Discount Policy</a:t>
            </a:r>
            <a:endParaRPr lang="en-US" sz="1833" b="1" dirty="0"/>
          </a:p>
        </p:txBody>
      </p:sp>
      <p:sp>
        <p:nvSpPr>
          <p:cNvPr id="12" name="Text 6"/>
          <p:cNvSpPr/>
          <p:nvPr/>
        </p:nvSpPr>
        <p:spPr>
          <a:xfrm>
            <a:off x="5918299" y="5502771"/>
            <a:ext cx="557559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4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Optimize discount strategy to balance sales volume with profit margins.</a:t>
            </a:r>
            <a:endParaRPr lang="en-US" sz="154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608E4990-9693-2404-D759-ECB853103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40779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37158" y="343495"/>
            <a:ext cx="5147171" cy="367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75"/>
              </a:lnSpc>
            </a:pPr>
            <a:r>
              <a:rPr lang="en-US" sz="2667" b="1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Targeted Marketing &amp; Product Focus</a:t>
            </a:r>
            <a:endParaRPr lang="en-US" sz="2667" b="1" dirty="0"/>
          </a:p>
        </p:txBody>
      </p:sp>
      <p:sp>
        <p:nvSpPr>
          <p:cNvPr id="3" name="Text 1"/>
          <p:cNvSpPr/>
          <p:nvPr/>
        </p:nvSpPr>
        <p:spPr>
          <a:xfrm>
            <a:off x="437158" y="1023145"/>
            <a:ext cx="1763613" cy="220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2000" b="1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Targeted Marketing</a:t>
            </a:r>
            <a:endParaRPr lang="en-US" sz="2000" b="1" dirty="0"/>
          </a:p>
        </p:txBody>
      </p:sp>
      <p:sp>
        <p:nvSpPr>
          <p:cNvPr id="4" name="Text 2"/>
          <p:cNvSpPr/>
          <p:nvPr/>
        </p:nvSpPr>
        <p:spPr>
          <a:xfrm>
            <a:off x="437158" y="1368524"/>
            <a:ext cx="5506443" cy="199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 efforts on high-value segments: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37158" y="1680766"/>
            <a:ext cx="5506443" cy="199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542"/>
              </a:lnSpc>
              <a:buSzPct val="100000"/>
              <a:buChar char="•"/>
            </a:pPr>
            <a:r>
              <a:rPr lang="en-US" sz="1333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High-revenue age groups (Young Adult, Middle-Aged).</a:t>
            </a:r>
            <a:endParaRPr lang="en-US" sz="1333" dirty="0"/>
          </a:p>
        </p:txBody>
      </p:sp>
      <p:sp>
        <p:nvSpPr>
          <p:cNvPr id="6" name="Text 4"/>
          <p:cNvSpPr/>
          <p:nvPr/>
        </p:nvSpPr>
        <p:spPr>
          <a:xfrm>
            <a:off x="437158" y="1924248"/>
            <a:ext cx="5506443" cy="199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39" indent="-285739">
              <a:lnSpc>
                <a:spcPts val="1542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Express-shipping users (higher average spend).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58" y="2264570"/>
            <a:ext cx="5506443" cy="459343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54750" y="1023145"/>
            <a:ext cx="1763613" cy="220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08"/>
              </a:lnSpc>
            </a:pPr>
            <a:r>
              <a:rPr lang="en-US" sz="2000" b="1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Product Positioning</a:t>
            </a:r>
            <a:endParaRPr lang="en-US" sz="2000" b="1" dirty="0"/>
          </a:p>
        </p:txBody>
      </p:sp>
      <p:sp>
        <p:nvSpPr>
          <p:cNvPr id="9" name="Text 6"/>
          <p:cNvSpPr/>
          <p:nvPr/>
        </p:nvSpPr>
        <p:spPr>
          <a:xfrm>
            <a:off x="6254750" y="1368524"/>
            <a:ext cx="5506443" cy="199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333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Highlight top-rated and best-selling items in campaigns to leverage social proof.</a:t>
            </a:r>
            <a:endParaRPr lang="en-US" sz="1333" dirty="0"/>
          </a:p>
        </p:txBody>
      </p:sp>
      <p:sp>
        <p:nvSpPr>
          <p:cNvPr id="10" name="Shape 7"/>
          <p:cNvSpPr/>
          <p:nvPr/>
        </p:nvSpPr>
        <p:spPr>
          <a:xfrm>
            <a:off x="6254750" y="1708844"/>
            <a:ext cx="5506443" cy="770930"/>
          </a:xfrm>
          <a:prstGeom prst="roundRect">
            <a:avLst>
              <a:gd name="adj" fmla="val 38891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86017" y="1840111"/>
            <a:ext cx="1469628" cy="183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17"/>
              </a:lnSpc>
            </a:pPr>
            <a:r>
              <a:rPr lang="en-US" sz="1667" b="1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Top-Rated Items</a:t>
            </a:r>
            <a:endParaRPr lang="en-US" sz="1667" b="1" dirty="0"/>
          </a:p>
        </p:txBody>
      </p:sp>
      <p:sp>
        <p:nvSpPr>
          <p:cNvPr id="12" name="Text 9"/>
          <p:cNvSpPr/>
          <p:nvPr/>
        </p:nvSpPr>
        <p:spPr>
          <a:xfrm>
            <a:off x="6386017" y="2148682"/>
            <a:ext cx="5243909" cy="199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Gloves, Sandals, Boots, Hat, Skirt.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54750" y="2604691"/>
            <a:ext cx="5506443" cy="1079917"/>
          </a:xfrm>
          <a:prstGeom prst="roundRect">
            <a:avLst>
              <a:gd name="adj" fmla="val 38891"/>
            </a:avLst>
          </a:prstGeom>
          <a:solidFill>
            <a:srgbClr val="F0D4F7"/>
          </a:solidFill>
          <a:ln w="7620">
            <a:solidFill>
              <a:srgbClr val="D6BA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86017" y="2735957"/>
            <a:ext cx="1469628" cy="183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17"/>
              </a:lnSpc>
            </a:pPr>
            <a:r>
              <a:rPr lang="en-US" sz="1667" b="1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Best-Selling Items</a:t>
            </a:r>
            <a:endParaRPr lang="en-US" sz="1667" b="1" dirty="0"/>
          </a:p>
        </p:txBody>
      </p:sp>
      <p:sp>
        <p:nvSpPr>
          <p:cNvPr id="15" name="Text 12"/>
          <p:cNvSpPr/>
          <p:nvPr/>
        </p:nvSpPr>
        <p:spPr>
          <a:xfrm>
            <a:off x="6386017" y="3044527"/>
            <a:ext cx="5243909" cy="199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542"/>
              </a:lnSpc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Jewelry, Sunglasses, Belt, Blouse, Pants, Shirts, Sandals, </a:t>
            </a:r>
          </a:p>
          <a:p>
            <a:pPr>
              <a:lnSpc>
                <a:spcPts val="1542"/>
              </a:lnSpc>
            </a:pPr>
            <a:r>
              <a:rPr lang="en-US" sz="15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Shoes, Sneakers, Jacket, Coat.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545</Words>
  <Application>Microsoft Office PowerPoint</Application>
  <PresentationFormat>Widescreen</PresentationFormat>
  <Paragraphs>95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Source Sans 3</vt:lpstr>
      <vt:lpstr>Source Serif 4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Deepak Kumar</dc:creator>
  <cp:lastModifiedBy>Deepak Kumar</cp:lastModifiedBy>
  <cp:revision>1</cp:revision>
  <dcterms:created xsi:type="dcterms:W3CDTF">2025-12-25T20:42:12Z</dcterms:created>
  <dcterms:modified xsi:type="dcterms:W3CDTF">2025-12-25T20:45:21Z</dcterms:modified>
</cp:coreProperties>
</file>