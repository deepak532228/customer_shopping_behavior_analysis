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transactional data to guide strategic business decisions.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671" y="623649"/>
            <a:ext cx="7556659" cy="133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Overview &amp; Dataset Summary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671" y="2637949"/>
            <a:ext cx="3664982" cy="2382203"/>
          </a:xfrm>
          <a:prstGeom prst="roundRect">
            <a:avLst>
              <a:gd name="adj" fmla="val 61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3671" y="2607469"/>
            <a:ext cx="3664982" cy="121920"/>
          </a:xfrm>
          <a:prstGeom prst="roundRect">
            <a:avLst>
              <a:gd name="adj" fmla="val 78124"/>
            </a:avLst>
          </a:prstGeom>
          <a:solidFill>
            <a:srgbClr val="BE49DF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2297787"/>
            <a:ext cx="680323" cy="680323"/>
          </a:xfrm>
          <a:prstGeom prst="roundRect">
            <a:avLst>
              <a:gd name="adj" fmla="val 134407"/>
            </a:avLst>
          </a:prstGeom>
          <a:solidFill>
            <a:srgbClr val="BE49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0073" y="2501860"/>
            <a:ext cx="272058" cy="2720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0846" y="3204805"/>
            <a:ext cx="2667953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Goal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50846" y="3674269"/>
            <a:ext cx="315063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3,900 purchases to understand spending patterns, segments, and preferences.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2637949"/>
            <a:ext cx="3664982" cy="2382203"/>
          </a:xfrm>
          <a:prstGeom prst="roundRect">
            <a:avLst>
              <a:gd name="adj" fmla="val 61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685348" y="2607469"/>
            <a:ext cx="3664982" cy="121920"/>
          </a:xfrm>
          <a:prstGeom prst="roundRect">
            <a:avLst>
              <a:gd name="adj" fmla="val 78124"/>
            </a:avLst>
          </a:prstGeom>
          <a:solidFill>
            <a:srgbClr val="BE49DF"/>
          </a:solidFill>
          <a:ln/>
        </p:spPr>
      </p:sp>
      <p:sp>
        <p:nvSpPr>
          <p:cNvPr id="12" name="Shape 8"/>
          <p:cNvSpPr/>
          <p:nvPr/>
        </p:nvSpPr>
        <p:spPr>
          <a:xfrm>
            <a:off x="6177677" y="2297787"/>
            <a:ext cx="680323" cy="680323"/>
          </a:xfrm>
          <a:prstGeom prst="roundRect">
            <a:avLst>
              <a:gd name="adj" fmla="val 134407"/>
            </a:avLst>
          </a:prstGeom>
          <a:solidFill>
            <a:srgbClr val="BE49D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1750" y="2501860"/>
            <a:ext cx="272058" cy="2720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42523" y="3204805"/>
            <a:ext cx="2667953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Dataset Size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4942523" y="3674269"/>
            <a:ext cx="31506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Rows,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Columns. Minimal missing data (37 values).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793671" y="5587008"/>
            <a:ext cx="7556659" cy="2019300"/>
          </a:xfrm>
          <a:prstGeom prst="roundRect">
            <a:avLst>
              <a:gd name="adj" fmla="val 724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793671" y="5556528"/>
            <a:ext cx="7556659" cy="121920"/>
          </a:xfrm>
          <a:prstGeom prst="roundRect">
            <a:avLst>
              <a:gd name="adj" fmla="val 78124"/>
            </a:avLst>
          </a:prstGeom>
          <a:solidFill>
            <a:srgbClr val="BE49DF"/>
          </a:solidFill>
          <a:ln/>
        </p:spPr>
      </p:sp>
      <p:sp>
        <p:nvSpPr>
          <p:cNvPr id="18" name="Shape 13"/>
          <p:cNvSpPr/>
          <p:nvPr/>
        </p:nvSpPr>
        <p:spPr>
          <a:xfrm>
            <a:off x="4231838" y="5246846"/>
            <a:ext cx="680323" cy="680323"/>
          </a:xfrm>
          <a:prstGeom prst="roundRect">
            <a:avLst>
              <a:gd name="adj" fmla="val 134407"/>
            </a:avLst>
          </a:prstGeom>
          <a:solidFill>
            <a:srgbClr val="BE49D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5912" y="5450919"/>
            <a:ext cx="272058" cy="27205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0846" y="6153864"/>
            <a:ext cx="2667953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Features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1050846" y="6623328"/>
            <a:ext cx="70423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Purchase Details, Subscription Status, and Shopping Behavior.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317" y="647581"/>
            <a:ext cx="11360825" cy="69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Exploratory Data Analysis (EDA) in Python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176099" y="2397919"/>
            <a:ext cx="6021348" cy="235148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3317" y="2162592"/>
            <a:ext cx="705683" cy="705683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9768" y="2339042"/>
            <a:ext cx="352782" cy="3527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8466" y="3103483"/>
            <a:ext cx="276748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Preparation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58466" y="3590449"/>
            <a:ext cx="5903952" cy="75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data, check structure </a:t>
            </a:r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df.info()</a:t>
            </a:r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summary statistics </a:t>
            </a:r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df.describe()</a:t>
            </a:r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785497" y="2045137"/>
            <a:ext cx="6021467" cy="235148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32715" y="1809810"/>
            <a:ext cx="705683" cy="705683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9165" y="1986260"/>
            <a:ext cx="352782" cy="3527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7863" y="2750701"/>
            <a:ext cx="3032760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Cleaning &amp; Imputation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67863" y="3237667"/>
            <a:ext cx="5904071" cy="75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Handled missing Review Rating values using median per product category.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1176099" y="5401508"/>
            <a:ext cx="6021348" cy="235148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3317" y="5166181"/>
            <a:ext cx="705683" cy="705683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768" y="5342632"/>
            <a:ext cx="352782" cy="3527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8466" y="6107073"/>
            <a:ext cx="276748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Feature Engineering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058466" y="6594038"/>
            <a:ext cx="5903952" cy="75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</a:t>
            </a:r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purchase_frequency_days</a:t>
            </a:r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columns.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7785497" y="5048726"/>
            <a:ext cx="6021467" cy="235148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32715" y="4813399"/>
            <a:ext cx="705683" cy="705683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9165" y="4989850"/>
            <a:ext cx="352782" cy="3527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7863" y="5754291"/>
            <a:ext cx="276748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Integration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67863" y="6241256"/>
            <a:ext cx="5904071" cy="75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cleaned DataFrame into MySQL for structured SQL analysis.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495" y="565309"/>
            <a:ext cx="8056840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SQL Analysis: Revenue &amp; Spending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9495" y="1683663"/>
            <a:ext cx="2418398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Revenue by Gender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19495" y="2191345"/>
            <a:ext cx="771417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total revenue generated by male vs. female customers.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95" y="2751534"/>
            <a:ext cx="4684752" cy="4684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42784" y="1683663"/>
            <a:ext cx="3554730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High-Spending Discount Users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42784" y="2191345"/>
            <a:ext cx="4975622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customers who used discounts but still spent above the average purchase amount.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42784" y="3034189"/>
            <a:ext cx="497562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spent :  $59.76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42784" y="3548063"/>
            <a:ext cx="4975622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Number of customer who spend more than Average spend: 1963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51037" y="4437221"/>
            <a:ext cx="4667369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 Customer 4 spent $90, Customer 9 spent $97.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942784" y="4437221"/>
            <a:ext cx="22860" cy="32897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2" name="Text 9"/>
          <p:cNvSpPr/>
          <p:nvPr/>
        </p:nvSpPr>
        <p:spPr>
          <a:xfrm>
            <a:off x="8942784" y="4997410"/>
            <a:ext cx="3165991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Shipping Type Comparison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942784" y="5505093"/>
            <a:ext cx="4975622" cy="65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 users have a higher average purchase amount.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942784" y="6347936"/>
            <a:ext cx="497562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Express: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 $60.48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42784" y="6748820"/>
            <a:ext cx="4975622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Standard: ~ $58.46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446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528" y="3470434"/>
            <a:ext cx="9161145" cy="66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SQL Analysis: Product Performance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6528" y="4481036"/>
            <a:ext cx="6404848" cy="3125629"/>
          </a:xfrm>
          <a:prstGeom prst="roundRect">
            <a:avLst>
              <a:gd name="adj" fmla="val 46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6048" y="4481036"/>
            <a:ext cx="121920" cy="3125629"/>
          </a:xfrm>
          <a:prstGeom prst="roundRect">
            <a:avLst>
              <a:gd name="adj" fmla="val 78399"/>
            </a:avLst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1145977" y="4739045"/>
            <a:ext cx="3207306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Top 5 Products by Rating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45977" y="5210175"/>
            <a:ext cx="5797391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Gloves: 3.86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5977" y="5653802"/>
            <a:ext cx="5797391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Sandals: 3.84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45977" y="6097429"/>
            <a:ext cx="5797391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Boots: 3.82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45977" y="6541056"/>
            <a:ext cx="5797391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Hat: 3.8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45977" y="6984683"/>
            <a:ext cx="5797391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Skirt: 3.78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428905" y="4481036"/>
            <a:ext cx="6404967" cy="3125629"/>
          </a:xfrm>
          <a:prstGeom prst="roundRect">
            <a:avLst>
              <a:gd name="adj" fmla="val 46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98425" y="4481036"/>
            <a:ext cx="121920" cy="3125629"/>
          </a:xfrm>
          <a:prstGeom prst="roundRect">
            <a:avLst>
              <a:gd name="adj" fmla="val 78399"/>
            </a:avLst>
          </a:prstGeom>
          <a:solidFill>
            <a:srgbClr val="BE49DF"/>
          </a:solidFill>
          <a:ln/>
        </p:spPr>
      </p:sp>
      <p:sp>
        <p:nvSpPr>
          <p:cNvPr id="14" name="Text 11"/>
          <p:cNvSpPr/>
          <p:nvPr/>
        </p:nvSpPr>
        <p:spPr>
          <a:xfrm>
            <a:off x="7778353" y="4739045"/>
            <a:ext cx="3635573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Top 3 Products per Category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778353" y="5210175"/>
            <a:ext cx="5797510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Clothing: Blouse, Pants, Shirt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778353" y="5653802"/>
            <a:ext cx="5797510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Outerwear: Jacket, Coat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778353" y="6097429"/>
            <a:ext cx="5797510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Accessories: Jewelry, Sunglasses, Belt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778353" y="6541056"/>
            <a:ext cx="5797510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Clothing: Blouse, Pants, Shirts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5803"/>
            <a:ext cx="1000410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SQL Analysis: Subscription &amp; Loyalty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1888569"/>
            <a:ext cx="12954952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344" y="1896189"/>
            <a:ext cx="6469856" cy="1740218"/>
          </a:xfrm>
          <a:prstGeom prst="roundRect">
            <a:avLst>
              <a:gd name="adj" fmla="val 5777"/>
            </a:avLst>
          </a:prstGeom>
          <a:solidFill>
            <a:srgbClr val="F0D4F7"/>
          </a:solidFill>
          <a:ln/>
        </p:spPr>
      </p:sp>
      <p:sp>
        <p:nvSpPr>
          <p:cNvPr id="5" name="Text 3"/>
          <p:cNvSpPr/>
          <p:nvPr/>
        </p:nvSpPr>
        <p:spPr>
          <a:xfrm>
            <a:off x="1084659" y="2135505"/>
            <a:ext cx="439031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Subscribers vs. Non-Subscribers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4659" y="2631043"/>
            <a:ext cx="599122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have a slightly higher average spend, but subscribers drive significant total revenue.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315200" y="1896189"/>
            <a:ext cx="6469856" cy="1740218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1896189"/>
            <a:ext cx="30480" cy="1740218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9" name="Text 7"/>
          <p:cNvSpPr/>
          <p:nvPr/>
        </p:nvSpPr>
        <p:spPr>
          <a:xfrm>
            <a:off x="7554516" y="2135505"/>
            <a:ext cx="414849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54516" y="2631043"/>
            <a:ext cx="599122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with &gt;5 purchases are more likely to be subscribers (958 Yes vs. 2518 No).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4003000"/>
            <a:ext cx="3925729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Segmentation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37724" y="47842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Classified customers based on purchase history: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7724" y="5556171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3116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1488996" y="66451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Loyal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724" y="7140654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segment count.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255776" y="5556171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701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5907048" y="66451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5776" y="7140654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Mid-level engagement.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673828" y="5556171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83</a:t>
            </a:r>
            <a:endParaRPr lang="en-US" sz="6200" dirty="0"/>
          </a:p>
        </p:txBody>
      </p:sp>
      <p:sp>
        <p:nvSpPr>
          <p:cNvPr id="20" name="Text 18"/>
          <p:cNvSpPr/>
          <p:nvPr/>
        </p:nvSpPr>
        <p:spPr>
          <a:xfrm>
            <a:off x="10325100" y="66451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New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73828" y="7140654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Smallest segment.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139" y="425172"/>
            <a:ext cx="6331982" cy="45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Revenue Contribution by Age Group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41139" y="1189196"/>
            <a:ext cx="13548122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which age groups generate the most total revenue.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139" y="1610558"/>
            <a:ext cx="13548122" cy="758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139" y="9371409"/>
            <a:ext cx="13548122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and Middle-Aged customers are the highest revenue contributors.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01358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Visualizing Insights: Power BI Dashboard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780592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built to present key findings visually and facilitate deeper exploration.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4815840"/>
            <a:ext cx="7468553" cy="1400175"/>
          </a:xfrm>
          <a:prstGeom prst="roundRect">
            <a:avLst>
              <a:gd name="adj" fmla="val 7181"/>
            </a:avLst>
          </a:prstGeom>
          <a:solidFill>
            <a:srgbClr val="E8BEF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439" y="5164574"/>
            <a:ext cx="299204" cy="2393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01959" y="5114925"/>
            <a:ext cx="64514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integrates all Python and SQL analysis for real-time decision support.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18317"/>
            <a:ext cx="832139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Behavior Dashboard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001083"/>
            <a:ext cx="822198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6010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Business Recommendations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13897" y="2634555"/>
            <a:ext cx="358973" cy="3589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01959" y="262711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01959" y="3122652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increase subscriber base and retention.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897" y="4374892"/>
            <a:ext cx="358973" cy="3589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01959" y="43674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Loyalty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01959" y="4862989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programs to reward repeat buyers and move them to the "Loyal" segment.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897" y="6115229"/>
            <a:ext cx="358973" cy="3589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01959" y="6107787"/>
            <a:ext cx="31800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01959" y="6603325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discount strategy to balance sales volume with profit margins.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589" y="412194"/>
            <a:ext cx="6176605" cy="440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Targeted Marketing &amp; Product Focus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4589" y="1227773"/>
            <a:ext cx="211633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Targeted Marketing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24589" y="1642229"/>
            <a:ext cx="660773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efforts on high-value segments: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4589" y="2016919"/>
            <a:ext cx="660773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High-revenue age groups (Young Adult, Middle-Aged).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4589" y="2309098"/>
            <a:ext cx="660773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Express-shipping users (higher average spend).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89" y="2717483"/>
            <a:ext cx="6607731" cy="66077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5700" y="1227773"/>
            <a:ext cx="211633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Product Positioning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05700" y="1642229"/>
            <a:ext cx="660773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and best-selling items in campaigns to leverage social proof.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05700" y="2050613"/>
            <a:ext cx="6607731" cy="925116"/>
          </a:xfrm>
          <a:prstGeom prst="roundRect">
            <a:avLst>
              <a:gd name="adj" fmla="val 3889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63220" y="2208133"/>
            <a:ext cx="1763554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Top-Rated Items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63220" y="2578418"/>
            <a:ext cx="629269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Gloves, Sandals, Boots, Hat, Skirt.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05700" y="3125629"/>
            <a:ext cx="6607731" cy="925116"/>
          </a:xfrm>
          <a:prstGeom prst="roundRect">
            <a:avLst>
              <a:gd name="adj" fmla="val 3889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63220" y="3283148"/>
            <a:ext cx="1763554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Best-Selling Items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663220" y="3653433"/>
            <a:ext cx="6292691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Jewelry, Sunglasses, Belt, Blouse, Pants, Shirts, Sandals, Shoes, Sneakers, Jacket, Coat.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2025-12-23T23:08:52Z</dcterms:created>
  <dcterms:modified xsi:type="dcterms:W3CDTF">2025-12-23T23:08:52Z</dcterms:modified>
</cp:coreProperties>
</file>